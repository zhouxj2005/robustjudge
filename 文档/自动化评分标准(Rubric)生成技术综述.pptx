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B87123B-0511-442B-96DB-0A0CFEB05032}">
  <a:tblStyle styleId="{1B87123B-0511-442B-96DB-0A0CFEB0503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Montserrat-bold.fntdata"/><Relationship Id="rId10" Type="http://schemas.openxmlformats.org/officeDocument/2006/relationships/slide" Target="slides/slide4.xml"/><Relationship Id="rId21" Type="http://schemas.openxmlformats.org/officeDocument/2006/relationships/font" Target="fonts/Montserrat-regular.fntdata"/><Relationship Id="rId13" Type="http://schemas.openxmlformats.org/officeDocument/2006/relationships/slide" Target="slides/slide7.xml"/><Relationship Id="rId24" Type="http://schemas.openxmlformats.org/officeDocument/2006/relationships/font" Target="fonts/Montserrat-boldItalic.fntdata"/><Relationship Id="rId12" Type="http://schemas.openxmlformats.org/officeDocument/2006/relationships/slide" Target="slides/slide6.xml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58dbe6d1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d58dbe6d1b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58dbe6d1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d58dbe6d1b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58dbe6d1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d58dbe6d1b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58dbe6d1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d58dbe6d1b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5.png"/><Relationship Id="rId8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54230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组会文献汇报 · 2026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136576"/>
            <a:ext cx="11601450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自动化评分标准 (Rubric)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2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生成技术及其演进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71500" y="3702248"/>
            <a:ext cx="1143000" cy="571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273748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探索大模型评价与对齐的新范式 (2025.1 - 2026.3)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5753992"/>
            <a:ext cx="11049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从简单的 LLM 生成到</a:t>
            </a:r>
            <a:r>
              <a:rPr b="1" i="1" lang="en-US" sz="1350" u="none" cap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引入外部知识、对比信息、动态权重与强化学习验证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3467992"/>
            <a:ext cx="110490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678060" y="2515492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SedarEval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自适应准则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1268610" y="3391792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069330" y="3658492"/>
            <a:ext cx="55096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2025.01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2224831" y="2515492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EVALAGENT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Web知识增强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2815381" y="3391792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2616100" y="3658492"/>
            <a:ext cx="55096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2025.04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3771602" y="2515492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Rubrics as Rewards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RL奖励信号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4362152" y="3391792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4162871" y="3658492"/>
            <a:ext cx="55096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2025.10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318373" y="2515492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OpenRubrics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对比式生成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908923" y="3391792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5709642" y="3658492"/>
            <a:ext cx="55096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2026.02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865143" y="2515492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Rethinking Rubric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动态分解/SNR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7455693" y="3391792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7256412" y="3658492"/>
            <a:ext cx="55096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2026.02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411914" y="2515492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RubricRAG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检索增强生成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9002464" y="3391792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8803183" y="3658492"/>
            <a:ext cx="55096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2026.03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0069264" y="2515492"/>
            <a:ext cx="1333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Query-Specific RL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DeepResearch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10659814" y="3391792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10460533" y="3658492"/>
            <a:ext cx="55096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2026.02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研究时间线与核心论文概览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571500" y="2533650"/>
            <a:ext cx="55006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DD4BF"/>
                </a:solidFill>
                <a:latin typeface="Montserrat"/>
                <a:ea typeface="Montserrat"/>
                <a:cs typeface="Montserrat"/>
                <a:sym typeface="Montserrat"/>
              </a:rPr>
              <a:t>SedarEval (2025.1)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571500" y="2838450"/>
            <a:ext cx="5238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571500" y="3028950"/>
            <a:ext cx="5238900" cy="13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核心思路1：</a:t>
            </a:r>
            <a:r>
              <a:rPr b="1" i="0" lang="en-US" sz="1350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DPO 对齐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。构造人工 Reference Rubric，引导模型生成的 Rubric 与专家标准对齐。</a:t>
            </a:r>
            <a:endParaRPr b="0" i="0" sz="1350" u="none" cap="none" strike="noStrike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核心思路2：</a:t>
            </a:r>
            <a:r>
              <a:rPr b="1" lang="en-US" sz="135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自判断</a:t>
            </a:r>
            <a:r>
              <a:rPr lang="en-US" sz="135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。强LLM同时生成</a:t>
            </a:r>
            <a:r>
              <a:rPr b="1" lang="en-US" sz="135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rubric</a:t>
            </a:r>
            <a:r>
              <a:rPr lang="en-US" sz="135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-list和</a:t>
            </a:r>
            <a:r>
              <a:rPr b="1" lang="en-US" sz="135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ideal answer</a:t>
            </a:r>
            <a:r>
              <a:rPr lang="en-US" sz="135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，Judge判断ideal answer是否符合rubric-list。</a:t>
            </a:r>
            <a:endParaRPr sz="1350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6375213" y="2533655"/>
            <a:ext cx="550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DD4BF"/>
                </a:solidFill>
                <a:latin typeface="Montserrat"/>
                <a:ea typeface="Montserrat"/>
                <a:cs typeface="Montserrat"/>
                <a:sym typeface="Montserrat"/>
              </a:rPr>
              <a:t>EVALAGENT (2025.4)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375213" y="3028955"/>
            <a:ext cx="5238900" cy="15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核心思路：</a:t>
            </a:r>
            <a:r>
              <a:rPr b="1" i="0" lang="en-US" sz="1350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Web搜索增强</a:t>
            </a:r>
            <a:r>
              <a:rPr b="1" lang="en-US" sz="135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（增强置信度）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b="0" i="0" sz="1350" u="none" cap="none" strike="noStrike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-31432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Noto Sans SC"/>
              <a:buAutoNum type="arabicPeriod"/>
            </a:pPr>
            <a:r>
              <a:rPr lang="en-US" sz="135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针对如何解决用户Instruction，生成用于Google的query</a:t>
            </a:r>
            <a:endParaRPr sz="1350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-31432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Noto Sans SC"/>
              <a:buAutoNum type="arabicPeriod"/>
            </a:pP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Google Search 获取 top 30 网页，LLM 质量检测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后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总结为“行动建议”</a:t>
            </a:r>
            <a:endParaRPr sz="1350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-31432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Noto Sans SC"/>
              <a:buAutoNum type="arabicPeriod"/>
            </a:pPr>
            <a:r>
              <a:rPr lang="en-US" sz="135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对所有建议进行</a:t>
            </a:r>
            <a:r>
              <a:rPr b="1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视角对齐</a:t>
            </a:r>
            <a:r>
              <a:rPr b="1" lang="en-US" sz="135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（建议-&gt;rubric）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b="1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相关性过滤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知识源增强：从人工到WEB检索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6375225" y="2838375"/>
            <a:ext cx="52389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78309"/>
            <a:ext cx="3492549" cy="2405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478309"/>
            <a:ext cx="3492549" cy="2405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478309"/>
            <a:ext cx="3492549" cy="240595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3619500" y="4943475"/>
            <a:ext cx="8001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核心贡献：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精细化的正负权重锚定</a:t>
            </a:r>
            <a:r>
              <a:rPr lang="en-US" sz="135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，给出两种rubric-score聚合方法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57250" y="2421284"/>
            <a:ext cx="306710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结构化列表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57250" y="2878484"/>
            <a:ext cx="29211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输入</a:t>
            </a:r>
            <a:r>
              <a:rPr b="1" lang="en-US" sz="135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query和reference answer</a:t>
            </a:r>
            <a:br>
              <a:rPr lang="en-US" sz="135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生成 7-20 条细粒度的结构化标准列表。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4635549" y="2421284"/>
            <a:ext cx="306710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权重等级划分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4635549" y="2878484"/>
            <a:ext cx="292104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区分 Essential, Important, Optional (1~5) 及 Pitfall (-2~-1) 负向权重。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413849" y="2421284"/>
            <a:ext cx="306710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RL 奖励信号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413849" y="2878484"/>
            <a:ext cx="292104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通过加权平均或 LLM 再次聚合，将准则分数转化为 RL 的奖励信号。</a:t>
            </a:r>
            <a:endParaRPr/>
          </a:p>
        </p:txBody>
      </p:sp>
      <p:pic>
        <p:nvPicPr>
          <p:cNvPr descr="image.png" id="147" name="Google Shape;14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1830734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5549" y="1830734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3849" y="1830734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762000" y="571500"/>
            <a:ext cx="1140142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RUBRICS AS REWARDS (2025.10)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571500" y="571500"/>
            <a:ext cx="76200" cy="40957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762000" y="571500"/>
            <a:ext cx="500062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OPENRUBRICS (2026.02)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71500" y="571500"/>
            <a:ext cx="76200" cy="40957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571500" y="1993701"/>
            <a:ext cx="5200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对比式生成 (Contrastive Generation)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571500" y="2603301"/>
            <a:ext cx="4953000" cy="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第一阶段：Rubric 生成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5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输入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5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query+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Chosen</a:t>
            </a:r>
            <a:r>
              <a:rPr lang="en-US" sz="135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Rejected </a:t>
            </a:r>
            <a:endParaRPr sz="1350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根据query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提取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Hard Rules</a:t>
            </a:r>
            <a:endParaRPr b="1" sz="1350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根据chosen和rejected分析差异，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并抽象为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Principles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571500" y="3769072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第二阶段：偏好对齐过滤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仅保留预测偏好一致性高的 Rubric。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571500" y="4660552"/>
            <a:ext cx="49530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50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第三阶段：SFT 训练</a:t>
            </a:r>
            <a:b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同时微调 Generator 与 Judge 模型。实现 4B 模型在判别任务上反超 7B 基础模型。</a:t>
            </a:r>
            <a:endParaRPr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93207" y="3956149"/>
            <a:ext cx="826293" cy="54768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9" name="Google Shape;169;p18"/>
          <p:cNvGraphicFramePr/>
          <p:nvPr/>
        </p:nvGraphicFramePr>
        <p:xfrm>
          <a:off x="571500" y="22416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{1B87123B-0511-442B-96DB-0A0CFEB05032}</a:tableStyleId>
              </a:tblPr>
              <a:tblGrid>
                <a:gridCol w="1551675"/>
                <a:gridCol w="6281150"/>
                <a:gridCol w="3216175"/>
              </a:tblGrid>
              <a:tr h="627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核心环节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具体实现描述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目的/效果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757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动态分解循环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先根据Instruction和m个response生成第一批Rubric</a:t>
                      </a:r>
                      <a:endParaRPr sz="1200">
                        <a:solidFill>
                          <a:srgbClr val="00000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若某一 Rubric 被 &gt;2 个样本满足，则将其分解为更细粒度的子项。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提高评价标准的区分度。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4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子rubric</a:t>
                      </a: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过滤机制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过滤“方向错误”和“语义冗余”的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rubric</a:t>
                      </a: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，限制连续 15 次无改进则退出。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确保 Rubric 正交性。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7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最优权重计算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       </a:t>
                      </a:r>
                      <a:b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b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b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b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        </a:t>
                      </a:r>
                      <a:b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          </a:t>
                      </a:r>
                      <a:b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b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           </a:t>
                      </a:r>
                      <a:b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b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b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b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让误判率低的 Rubric 权重更高。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0" name="Google Shape;170;p18"/>
          <p:cNvSpPr/>
          <p:nvPr/>
        </p:nvSpPr>
        <p:spPr>
          <a:xfrm>
            <a:off x="571500" y="3703736"/>
            <a:ext cx="15516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2123182" y="3703736"/>
            <a:ext cx="62811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8404324" y="3703736"/>
            <a:ext cx="32161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571500" y="4737199"/>
            <a:ext cx="15516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2123182" y="4737199"/>
            <a:ext cx="62811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8404324" y="4737199"/>
            <a:ext cx="32161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动态分解与数学权重：RETHINKING RUBRIC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08700" y="5414400"/>
            <a:ext cx="6281150" cy="11962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79227"/>
            <a:ext cx="5238750" cy="26516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679227"/>
            <a:ext cx="5238750" cy="265167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857250" y="2622202"/>
            <a:ext cx="490061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RubricRAG (2026.03)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857250" y="3050827"/>
            <a:ext cx="46674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思路：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检索语义相似的历史 Query 及其专家 Rubric (如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HealthBench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) 作为 Few-shot，生成具有专业延续性的新标准。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667500" y="2622202"/>
            <a:ext cx="490061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DeepResearch Report RL (2026.02)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667500" y="3050827"/>
            <a:ext cx="4667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思路：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将 Rubric 视为强化学习策略的</a:t>
            </a:r>
            <a:r>
              <a:rPr b="1" i="0" lang="en-US" sz="1350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隐变量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。通过优化 Rubric y 使得                          的                概率最大化。</a:t>
            </a:r>
            <a:endParaRPr/>
          </a:p>
        </p:txBody>
      </p:sp>
      <p:pic>
        <p:nvPicPr>
          <p:cNvPr descr="image.png" id="190" name="Google Shape;19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201260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0" y="201260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专业领域锚定：检索与任务定制</a:t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806775" y="3271762"/>
            <a:ext cx="1635111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/>
          <p:nvPr/>
        </p:nvSpPr>
        <p:spPr>
          <a:xfrm>
            <a:off x="5619750" y="2469802"/>
            <a:ext cx="952500" cy="762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175760" y="2546002"/>
            <a:ext cx="384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属性提升总结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3752403" y="3793777"/>
            <a:ext cx="4687192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这些论文如何解决了 LLM Judge 的核心痛点？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571500" y="1425100"/>
            <a:ext cx="11592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B2D31"/>
                </a:solidFill>
                <a:highlight>
                  <a:srgbClr val="FFFFFF"/>
                </a:highlight>
                <a:latin typeface="Noto Sans SC"/>
                <a:ea typeface="Noto Sans SC"/>
                <a:cs typeface="Noto Sans SC"/>
                <a:sym typeface="Noto Sans SC"/>
              </a:rPr>
              <a:t>传统Rubric过于通用会导致 Judge 面对 </a:t>
            </a:r>
            <a:r>
              <a:rPr b="1" lang="en-US" sz="1800">
                <a:solidFill>
                  <a:srgbClr val="2B2D31"/>
                </a:solidFill>
                <a:highlight>
                  <a:srgbClr val="FFFFFF"/>
                </a:highlight>
                <a:latin typeface="Noto Sans SC"/>
                <a:ea typeface="Noto Sans SC"/>
                <a:cs typeface="Noto Sans SC"/>
                <a:sym typeface="Noto Sans SC"/>
              </a:rPr>
              <a:t>两个水平相近的回答时 </a:t>
            </a:r>
            <a:r>
              <a:rPr lang="en-US" sz="1800">
                <a:solidFill>
                  <a:srgbClr val="2B2D31"/>
                </a:solidFill>
                <a:highlight>
                  <a:srgbClr val="FFFFFF"/>
                </a:highlight>
                <a:latin typeface="Noto Sans SC"/>
                <a:ea typeface="Noto Sans SC"/>
                <a:cs typeface="Noto Sans SC"/>
                <a:sym typeface="Noto Sans SC"/>
              </a:rPr>
              <a:t>性能下降、鲁棒性不足</a:t>
            </a:r>
            <a:endParaRPr sz="1800">
              <a:solidFill>
                <a:srgbClr val="2B2D31"/>
              </a:solidFill>
              <a:highlight>
                <a:srgbClr val="FFFFFF"/>
              </a:highlight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B2D31"/>
              </a:solidFill>
              <a:highlight>
                <a:srgbClr val="FFFFFF"/>
              </a:highlight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146398" y="2745325"/>
            <a:ext cx="1009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2B2D31"/>
                </a:solidFill>
                <a:highlight>
                  <a:srgbClr val="FFFFFF"/>
                </a:highlight>
              </a:rPr>
              <a:t>OpenRubrics (2026.2)</a:t>
            </a:r>
            <a:r>
              <a:rPr lang="en-US">
                <a:solidFill>
                  <a:srgbClr val="2B2D31"/>
                </a:solidFill>
                <a:highlight>
                  <a:srgbClr val="FFFFFF"/>
                </a:highlight>
              </a:rPr>
              <a:t>：通过</a:t>
            </a:r>
            <a:r>
              <a:rPr b="1" lang="en-US">
                <a:solidFill>
                  <a:srgbClr val="2B2D31"/>
                </a:solidFill>
                <a:highlight>
                  <a:srgbClr val="FFFFFF"/>
                </a:highlight>
              </a:rPr>
              <a:t>对比式生成</a:t>
            </a:r>
            <a:r>
              <a:rPr lang="en-US">
                <a:solidFill>
                  <a:srgbClr val="2B2D31"/>
                </a:solidFill>
                <a:highlight>
                  <a:srgbClr val="FFFFFF"/>
                </a:highlight>
              </a:rPr>
              <a:t>，直接让模型观察好/坏回答的区别，提取出最能区分这两者的核心差异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1146397" y="3546875"/>
            <a:ext cx="10711500" cy="6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2B2D31"/>
                </a:solidFill>
                <a:highlight>
                  <a:srgbClr val="FFFFFF"/>
                </a:highlight>
              </a:rPr>
              <a:t>Rethinking Rubric Generation (2026.2)</a:t>
            </a:r>
            <a:r>
              <a:rPr lang="en-US">
                <a:solidFill>
                  <a:srgbClr val="2B2D31"/>
                </a:solidFill>
                <a:highlight>
                  <a:srgbClr val="FFFFFF"/>
                </a:highlight>
              </a:rPr>
              <a:t>：通过</a:t>
            </a:r>
            <a:r>
              <a:rPr b="1" lang="en-US">
                <a:solidFill>
                  <a:srgbClr val="2B2D31"/>
                </a:solidFill>
                <a:highlight>
                  <a:srgbClr val="FFFFFF"/>
                </a:highlight>
              </a:rPr>
              <a:t>动态分解</a:t>
            </a:r>
            <a:r>
              <a:rPr lang="en-US">
                <a:solidFill>
                  <a:srgbClr val="2B2D31"/>
                </a:solidFill>
                <a:highlight>
                  <a:srgbClr val="FFFFFF"/>
                </a:highlight>
              </a:rPr>
              <a:t>，当一个 rubric 被太多回答满足时，模型会将其继续往下细化拆解。</a:t>
            </a:r>
            <a:endParaRPr>
              <a:solidFill>
                <a:srgbClr val="2B2D3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F172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762000" y="571500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属性提升一：区分度</a:t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3" name="Google Shape;21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45327"/>
            <a:ext cx="328519" cy="3449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46863"/>
            <a:ext cx="328519" cy="344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571500" y="1425100"/>
            <a:ext cx="1159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B2D31"/>
                </a:solidFill>
                <a:highlight>
                  <a:srgbClr val="FFFFFF"/>
                </a:highlight>
              </a:rPr>
              <a:t>所有的 Rubric 如果同权，Judge 会被细枝末节的要求影响</a:t>
            </a:r>
            <a:endParaRPr sz="1800">
              <a:solidFill>
                <a:srgbClr val="2B2D31"/>
              </a:solidFill>
              <a:highlight>
                <a:srgbClr val="FFFFFF"/>
              </a:highlight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1146398" y="2745325"/>
            <a:ext cx="1009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b="1" lang="en-US">
                <a:solidFill>
                  <a:srgbClr val="2B2D31"/>
                </a:solidFill>
                <a:highlight>
                  <a:srgbClr val="FFFFFF"/>
                </a:highlight>
              </a:rPr>
              <a:t>Rubrics as Rewards (2025.10)</a:t>
            </a:r>
            <a:r>
              <a:rPr lang="en-US">
                <a:solidFill>
                  <a:srgbClr val="2B2D31"/>
                </a:solidFill>
                <a:highlight>
                  <a:srgbClr val="FFFFFF"/>
                </a:highlight>
              </a:rPr>
              <a:t>：引入了</a:t>
            </a:r>
            <a:r>
              <a:rPr b="1" lang="en-US">
                <a:solidFill>
                  <a:srgbClr val="2B2D31"/>
                </a:solidFill>
                <a:highlight>
                  <a:srgbClr val="FFFFFF"/>
                </a:highlight>
              </a:rPr>
              <a:t>重要度分级与正负权重</a:t>
            </a:r>
            <a:r>
              <a:rPr lang="en-US">
                <a:solidFill>
                  <a:srgbClr val="2B2D31"/>
                </a:solidFill>
                <a:highlight>
                  <a:srgbClr val="FFFFFF"/>
                </a:highlight>
              </a:rPr>
              <a:t>。</a:t>
            </a:r>
            <a:endParaRPr b="1">
              <a:solidFill>
                <a:srgbClr val="2B2D31"/>
              </a:solidFill>
              <a:highlight>
                <a:srgbClr val="FFFFFF"/>
              </a:highlight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1146397" y="3546875"/>
            <a:ext cx="10711500" cy="6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2B2D31"/>
                </a:solidFill>
                <a:highlight>
                  <a:srgbClr val="FFFFFF"/>
                </a:highlight>
              </a:rPr>
              <a:t>Rethinking Rubric Generation (2026.2)</a:t>
            </a:r>
            <a:r>
              <a:rPr lang="en-US">
                <a:solidFill>
                  <a:srgbClr val="2B2D31"/>
                </a:solidFill>
                <a:highlight>
                  <a:srgbClr val="FFFFFF"/>
                </a:highlight>
              </a:rPr>
              <a:t>：引入信噪比（SNR）对 Rubric 进行</a:t>
            </a:r>
            <a:r>
              <a:rPr b="1" lang="en-US">
                <a:solidFill>
                  <a:srgbClr val="2B2D31"/>
                </a:solidFill>
                <a:highlight>
                  <a:srgbClr val="FFFFFF"/>
                </a:highlight>
              </a:rPr>
              <a:t>数学理论层面的加权</a:t>
            </a:r>
            <a:r>
              <a:rPr lang="en-US">
                <a:solidFill>
                  <a:srgbClr val="2B2D31"/>
                </a:solidFill>
                <a:highlight>
                  <a:srgbClr val="FFFFFF"/>
                </a:highlight>
              </a:rPr>
              <a:t>。</a:t>
            </a:r>
            <a:endParaRPr>
              <a:solidFill>
                <a:srgbClr val="2B2D3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2B2D31"/>
              </a:solidFill>
              <a:highlight>
                <a:srgbClr val="FFFFFF"/>
              </a:highlight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762000" y="571500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属性提升</a:t>
            </a:r>
            <a:r>
              <a:rPr b="1" lang="en-US" sz="28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二</a:t>
            </a: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：</a:t>
            </a:r>
            <a:r>
              <a:rPr b="1" lang="en-US" sz="28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权重感知</a:t>
            </a: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571500" y="571500"/>
            <a:ext cx="76200" cy="523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5" name="Google Shape;22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45327"/>
            <a:ext cx="328519" cy="3449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46863"/>
            <a:ext cx="328519" cy="344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242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571500" y="1425100"/>
            <a:ext cx="1159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B2D31"/>
                </a:solidFill>
                <a:highlight>
                  <a:srgbClr val="FFFFFF"/>
                </a:highlight>
              </a:rPr>
              <a:t>LLM 仅靠自身参数生成的 Rubric 在垂直领域容易出现“幻觉”</a:t>
            </a:r>
            <a:endParaRPr sz="1800">
              <a:solidFill>
                <a:srgbClr val="2B2D31"/>
              </a:solidFill>
              <a:highlight>
                <a:srgbClr val="FFFFFF"/>
              </a:highlight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1146400" y="2745325"/>
            <a:ext cx="11353500" cy="6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2B2D31"/>
                </a:solidFill>
                <a:highlight>
                  <a:srgbClr val="FFFFFF"/>
                </a:highlight>
              </a:rPr>
              <a:t>EVALAGENT (2025.4)</a:t>
            </a:r>
            <a:r>
              <a:rPr lang="en-US">
                <a:solidFill>
                  <a:srgbClr val="2B2D31"/>
                </a:solidFill>
                <a:highlight>
                  <a:srgbClr val="FFFFFF"/>
                </a:highlight>
              </a:rPr>
              <a:t>：赋予 Rubric </a:t>
            </a:r>
            <a:r>
              <a:rPr b="1" lang="en-US">
                <a:solidFill>
                  <a:srgbClr val="2B2D31"/>
                </a:solidFill>
                <a:highlight>
                  <a:srgbClr val="FFFFFF"/>
                </a:highlight>
              </a:rPr>
              <a:t>真实世界的实操属性</a:t>
            </a:r>
            <a:r>
              <a:rPr lang="en-US">
                <a:solidFill>
                  <a:srgbClr val="2B2D31"/>
                </a:solidFill>
                <a:highlight>
                  <a:srgbClr val="FFFFFF"/>
                </a:highlight>
              </a:rPr>
              <a:t>，通过 Google Search 获取真实专家的 How-to 建议，确保标准是业内公认的。</a:t>
            </a:r>
            <a:endParaRPr>
              <a:solidFill>
                <a:srgbClr val="2B2D3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t/>
            </a:r>
            <a:endParaRPr b="1">
              <a:solidFill>
                <a:srgbClr val="2B2D31"/>
              </a:solidFill>
              <a:highlight>
                <a:srgbClr val="FFFFFF"/>
              </a:highlight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1146397" y="3546875"/>
            <a:ext cx="10711500" cy="1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2B2D31"/>
                </a:solidFill>
                <a:highlight>
                  <a:srgbClr val="FFFFFF"/>
                </a:highlight>
              </a:rPr>
              <a:t>RubricRAG (2026.3)</a:t>
            </a:r>
            <a:r>
              <a:rPr lang="en-US">
                <a:solidFill>
                  <a:srgbClr val="2B2D31"/>
                </a:solidFill>
                <a:highlight>
                  <a:srgbClr val="FFFFFF"/>
                </a:highlight>
              </a:rPr>
              <a:t>：赋予 Rubric </a:t>
            </a:r>
            <a:r>
              <a:rPr b="1" lang="en-US">
                <a:solidFill>
                  <a:srgbClr val="2B2D31"/>
                </a:solidFill>
                <a:highlight>
                  <a:srgbClr val="FFFFFF"/>
                </a:highlight>
              </a:rPr>
              <a:t>历史一致性与领域专业性</a:t>
            </a:r>
            <a:r>
              <a:rPr lang="en-US">
                <a:solidFill>
                  <a:srgbClr val="2B2D31"/>
                </a:solidFill>
                <a:highlight>
                  <a:srgbClr val="FFFFFF"/>
                </a:highlight>
              </a:rPr>
              <a:t>，通过 RAG 检索已有的专家标注 Rubric 作为 Few-shot，保证了同一领域内评价标准的延续性。</a:t>
            </a:r>
            <a:endParaRPr>
              <a:solidFill>
                <a:srgbClr val="2B2D3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2B2D31"/>
              </a:solidFill>
              <a:highlight>
                <a:srgbClr val="FFFFFF"/>
              </a:highlight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762000" y="571500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属性提升</a:t>
            </a:r>
            <a:r>
              <a:rPr b="1" lang="en-US" sz="28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三</a:t>
            </a: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：</a:t>
            </a:r>
            <a:r>
              <a:rPr b="1" lang="en-US" sz="28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客观知识锚定</a:t>
            </a:r>
            <a:endParaRPr/>
          </a:p>
        </p:txBody>
      </p:sp>
      <p:sp>
        <p:nvSpPr>
          <p:cNvPr id="236" name="Google Shape;236;p23"/>
          <p:cNvSpPr/>
          <p:nvPr/>
        </p:nvSpPr>
        <p:spPr>
          <a:xfrm>
            <a:off x="571500" y="571500"/>
            <a:ext cx="76200" cy="523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7" name="Google Shape;23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45327"/>
            <a:ext cx="328519" cy="3449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46863"/>
            <a:ext cx="328519" cy="344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4"/>
          <p:cNvSpPr txBox="1"/>
          <p:nvPr/>
        </p:nvSpPr>
        <p:spPr>
          <a:xfrm>
            <a:off x="571500" y="1425100"/>
            <a:ext cx="1159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B2D31"/>
                </a:solidFill>
                <a:highlight>
                  <a:srgbClr val="FFFFFF"/>
                </a:highlight>
              </a:rPr>
              <a:t>Rubric 写得再好看，如果用它打出来的分数和人类偏好不一致，那就是无效的。</a:t>
            </a:r>
            <a:endParaRPr sz="1800">
              <a:solidFill>
                <a:srgbClr val="2B2D31"/>
              </a:solidFill>
              <a:highlight>
                <a:srgbClr val="FFFFFF"/>
              </a:highlight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1146398" y="2745325"/>
            <a:ext cx="1009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b="1" lang="en-US">
                <a:solidFill>
                  <a:srgbClr val="2B2D31"/>
                </a:solidFill>
                <a:highlight>
                  <a:srgbClr val="FFFFFF"/>
                </a:highlight>
              </a:rPr>
              <a:t>SedarEval (2025.1)</a:t>
            </a:r>
            <a:r>
              <a:rPr lang="en-US">
                <a:solidFill>
                  <a:srgbClr val="2B2D31"/>
                </a:solidFill>
                <a:highlight>
                  <a:srgbClr val="FFFFFF"/>
                </a:highlight>
              </a:rPr>
              <a:t>：直接用 DPO 对齐人类构造的 Reference Rubric，提升了 Rubric 本身的</a:t>
            </a:r>
            <a:r>
              <a:rPr b="1" lang="en-US">
                <a:solidFill>
                  <a:srgbClr val="2B2D31"/>
                </a:solidFill>
                <a:highlight>
                  <a:srgbClr val="FFFFFF"/>
                </a:highlight>
              </a:rPr>
              <a:t>拟人度</a:t>
            </a:r>
            <a:endParaRPr b="1">
              <a:solidFill>
                <a:srgbClr val="2B2D31"/>
              </a:solidFill>
              <a:highlight>
                <a:srgbClr val="FFFFFF"/>
              </a:highlight>
            </a:endParaRPr>
          </a:p>
        </p:txBody>
      </p:sp>
      <p:sp>
        <p:nvSpPr>
          <p:cNvPr id="246" name="Google Shape;246;p24"/>
          <p:cNvSpPr txBox="1"/>
          <p:nvPr/>
        </p:nvSpPr>
        <p:spPr>
          <a:xfrm>
            <a:off x="1146397" y="3546875"/>
            <a:ext cx="10711500" cy="1218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2B2D31"/>
                </a:solidFill>
                <a:highlight>
                  <a:srgbClr val="FFFFFF"/>
                </a:highlight>
              </a:rPr>
              <a:t>Learning Query-Specific Rubrics... (2026.2)</a:t>
            </a:r>
            <a:r>
              <a:rPr lang="en-US">
                <a:solidFill>
                  <a:srgbClr val="2B2D31"/>
                </a:solidFill>
                <a:highlight>
                  <a:srgbClr val="FFFFFF"/>
                </a:highlight>
              </a:rPr>
              <a:t>：将 Rubric 作为强化学习策略优化的</a:t>
            </a:r>
            <a:r>
              <a:rPr b="1" lang="en-US">
                <a:solidFill>
                  <a:srgbClr val="2B2D31"/>
                </a:solidFill>
                <a:highlight>
                  <a:srgbClr val="FFFFFF"/>
                </a:highlight>
              </a:rPr>
              <a:t>隐变量</a:t>
            </a:r>
            <a:r>
              <a:rPr lang="en-US">
                <a:solidFill>
                  <a:srgbClr val="2B2D31"/>
                </a:solidFill>
                <a:highlight>
                  <a:srgbClr val="FFFFFF"/>
                </a:highlight>
              </a:rPr>
              <a:t>，其唯一目标就是让 Judge 使用该 Rubric 算出的分数 </a:t>
            </a:r>
            <a:r>
              <a:rPr i="1" lang="en-US">
                <a:solidFill>
                  <a:srgbClr val="2B2D3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Sacc</a:t>
            </a:r>
            <a:r>
              <a:rPr lang="en-US">
                <a:solidFill>
                  <a:srgbClr val="2B2D3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r>
              <a:rPr i="1" lang="en-US">
                <a:solidFill>
                  <a:srgbClr val="2B2D3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Srej</a:t>
            </a:r>
            <a:r>
              <a:rPr lang="en-US">
                <a:solidFill>
                  <a:srgbClr val="2B2D3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，</a:t>
            </a:r>
            <a:r>
              <a:rPr lang="en-US">
                <a:solidFill>
                  <a:srgbClr val="2B2D31"/>
                </a:solidFill>
                <a:highlight>
                  <a:srgbClr val="FFFFFF"/>
                </a:highlight>
              </a:rPr>
              <a:t>赋予了 Rubric </a:t>
            </a:r>
            <a:r>
              <a:rPr b="1" lang="en-US">
                <a:solidFill>
                  <a:srgbClr val="2B2D31"/>
                </a:solidFill>
                <a:highlight>
                  <a:srgbClr val="FFFFFF"/>
                </a:highlight>
              </a:rPr>
              <a:t>端到端的效果导向属性</a:t>
            </a:r>
            <a:r>
              <a:rPr lang="en-US">
                <a:solidFill>
                  <a:srgbClr val="2B2D31"/>
                </a:solidFill>
                <a:highlight>
                  <a:srgbClr val="FFFFFF"/>
                </a:highlight>
              </a:rPr>
              <a:t>。</a:t>
            </a:r>
            <a:endParaRPr>
              <a:solidFill>
                <a:srgbClr val="2B2D3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2B2D31"/>
              </a:solidFill>
              <a:highlight>
                <a:srgbClr val="FFFFFF"/>
              </a:highlight>
            </a:endParaRPr>
          </a:p>
        </p:txBody>
      </p:sp>
      <p:sp>
        <p:nvSpPr>
          <p:cNvPr id="247" name="Google Shape;247;p24"/>
          <p:cNvSpPr txBox="1"/>
          <p:nvPr/>
        </p:nvSpPr>
        <p:spPr>
          <a:xfrm>
            <a:off x="762000" y="571500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属性提升</a:t>
            </a:r>
            <a:r>
              <a:rPr b="1" lang="en-US" sz="28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四</a:t>
            </a: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：</a:t>
            </a:r>
            <a:r>
              <a:rPr b="1" lang="en-US" sz="28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一致性对齐</a:t>
            </a:r>
            <a:endParaRPr/>
          </a:p>
        </p:txBody>
      </p:sp>
      <p:sp>
        <p:nvSpPr>
          <p:cNvPr id="248" name="Google Shape;248;p24"/>
          <p:cNvSpPr/>
          <p:nvPr/>
        </p:nvSpPr>
        <p:spPr>
          <a:xfrm>
            <a:off x="571500" y="571500"/>
            <a:ext cx="76200" cy="523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9" name="Google Shape;24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45327"/>
            <a:ext cx="328519" cy="3449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46863"/>
            <a:ext cx="328519" cy="344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5"/>
          <p:cNvSpPr txBox="1"/>
          <p:nvPr/>
        </p:nvSpPr>
        <p:spPr>
          <a:xfrm>
            <a:off x="571500" y="1425100"/>
            <a:ext cx="11592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B2D31"/>
                </a:solidFill>
                <a:highlight>
                  <a:srgbClr val="FFFFFF"/>
                </a:highlight>
              </a:rPr>
              <a:t>如果生成的多条 Rubric 在语义上高度重合，Judge 在打分时会对同一缺陷或优点进行多次惩罚/奖励，导致极化和</a:t>
            </a:r>
            <a:r>
              <a:rPr b="1" lang="en-US" sz="1800">
                <a:solidFill>
                  <a:srgbClr val="2B2D31"/>
                </a:solidFill>
                <a:highlight>
                  <a:srgbClr val="FFFFFF"/>
                </a:highlight>
              </a:rPr>
              <a:t>不鲁棒</a:t>
            </a:r>
            <a:endParaRPr b="1" sz="1800">
              <a:solidFill>
                <a:srgbClr val="2B2D31"/>
              </a:solidFill>
              <a:highlight>
                <a:srgbClr val="FFFFFF"/>
              </a:highlight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57" name="Google Shape;257;p25"/>
          <p:cNvSpPr txBox="1"/>
          <p:nvPr/>
        </p:nvSpPr>
        <p:spPr>
          <a:xfrm>
            <a:off x="1146398" y="2745325"/>
            <a:ext cx="10090200" cy="6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2B2D31"/>
                </a:solidFill>
                <a:highlight>
                  <a:srgbClr val="FFFFFF"/>
                </a:highlight>
              </a:rPr>
              <a:t>Rethinking Rubric Generation (2026.2)</a:t>
            </a:r>
            <a:r>
              <a:rPr lang="en-US">
                <a:solidFill>
                  <a:srgbClr val="2B2D31"/>
                </a:solidFill>
                <a:highlight>
                  <a:srgbClr val="FFFFFF"/>
                </a:highlight>
              </a:rPr>
              <a:t>：加入了冗余（语义重叠）过滤机制。</a:t>
            </a:r>
            <a:endParaRPr>
              <a:solidFill>
                <a:srgbClr val="2B2D3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t/>
            </a:r>
            <a:endParaRPr b="1">
              <a:solidFill>
                <a:srgbClr val="2B2D31"/>
              </a:solidFill>
              <a:highlight>
                <a:srgbClr val="FFFFFF"/>
              </a:highlight>
            </a:endParaRPr>
          </a:p>
        </p:txBody>
      </p:sp>
      <p:sp>
        <p:nvSpPr>
          <p:cNvPr id="258" name="Google Shape;258;p25"/>
          <p:cNvSpPr txBox="1"/>
          <p:nvPr/>
        </p:nvSpPr>
        <p:spPr>
          <a:xfrm>
            <a:off x="1146397" y="3546875"/>
            <a:ext cx="10711500" cy="6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2B2D31"/>
                </a:solidFill>
                <a:highlight>
                  <a:srgbClr val="FFFFFF"/>
                </a:highlight>
              </a:rPr>
              <a:t>EVALAGENT (2025.4)</a:t>
            </a:r>
            <a:r>
              <a:rPr lang="en-US">
                <a:solidFill>
                  <a:srgbClr val="2B2D31"/>
                </a:solidFill>
                <a:highlight>
                  <a:srgbClr val="FFFFFF"/>
                </a:highlight>
              </a:rPr>
              <a:t>：进行相关性过滤，去除细枝末节，提取核心总结。</a:t>
            </a:r>
            <a:endParaRPr>
              <a:solidFill>
                <a:srgbClr val="2B2D3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2B2D31"/>
              </a:solidFill>
              <a:highlight>
                <a:srgbClr val="FFFFFF"/>
              </a:highlight>
            </a:endParaRPr>
          </a:p>
        </p:txBody>
      </p:sp>
      <p:sp>
        <p:nvSpPr>
          <p:cNvPr id="259" name="Google Shape;259;p25"/>
          <p:cNvSpPr txBox="1"/>
          <p:nvPr/>
        </p:nvSpPr>
        <p:spPr>
          <a:xfrm>
            <a:off x="762000" y="571500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属性提升</a:t>
            </a:r>
            <a:r>
              <a:rPr b="1" lang="en-US" sz="28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五</a:t>
            </a: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：</a:t>
            </a:r>
            <a:r>
              <a:rPr b="1" lang="en-US" sz="28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独立性与无冗余</a:t>
            </a:r>
            <a:endParaRPr/>
          </a:p>
        </p:txBody>
      </p:sp>
      <p:sp>
        <p:nvSpPr>
          <p:cNvPr id="260" name="Google Shape;260;p25"/>
          <p:cNvSpPr/>
          <p:nvPr/>
        </p:nvSpPr>
        <p:spPr>
          <a:xfrm>
            <a:off x="571500" y="571500"/>
            <a:ext cx="76200" cy="523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1" name="Google Shape;26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45327"/>
            <a:ext cx="328519" cy="3449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46863"/>
            <a:ext cx="328519" cy="344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7" name="Google Shape;26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37507"/>
            <a:ext cx="11049000" cy="284976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6"/>
          <p:cNvSpPr txBox="1"/>
          <p:nvPr/>
        </p:nvSpPr>
        <p:spPr>
          <a:xfrm>
            <a:off x="1381125" y="3028057"/>
            <a:ext cx="9858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非线性获取：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Rubric 不应仅由 Prompt 生成，必须引入</a:t>
            </a:r>
            <a:r>
              <a:rPr b="1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对比信息或外部 RAG 辅助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1381125" y="3492847"/>
            <a:ext cx="9858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动态演进结构：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结构应随任务难度动态分裂，而非简单的平铺列表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/>
          </a:p>
        </p:txBody>
      </p:sp>
      <p:sp>
        <p:nvSpPr>
          <p:cNvPr id="271" name="Google Shape;271;p26"/>
          <p:cNvSpPr txBox="1"/>
          <p:nvPr/>
        </p:nvSpPr>
        <p:spPr>
          <a:xfrm>
            <a:off x="1381125" y="3957637"/>
            <a:ext cx="9858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Validation 闭环：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Rubric 生成后必须经过“模拟预测一致性”测试，方可留用。</a:t>
            </a:r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1381125" y="4422427"/>
            <a:ext cx="9858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正交性过滤：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严格去除冗余</a:t>
            </a:r>
            <a:r>
              <a:rPr lang="en-US" sz="135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，或采样加权去除相关性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，防止 Double-counting 导致评分极化。</a:t>
            </a:r>
            <a:endParaRPr/>
          </a:p>
        </p:txBody>
      </p:sp>
      <p:sp>
        <p:nvSpPr>
          <p:cNvPr id="273" name="Google Shape;273;p26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未来启发：独立性与验证闭环</a:t>
            </a:r>
            <a:endParaRPr/>
          </a:p>
        </p:txBody>
      </p:sp>
      <p:sp>
        <p:nvSpPr>
          <p:cNvPr id="274" name="Google Shape;274;p26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5" name="Google Shape;27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7750" y="3028050"/>
            <a:ext cx="205175" cy="219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7750" y="3492841"/>
            <a:ext cx="205175" cy="219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7750" y="3957633"/>
            <a:ext cx="205175" cy="219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7750" y="4422424"/>
            <a:ext cx="205175" cy="219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